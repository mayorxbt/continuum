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7f1e6d463a4430" /><Relationship Type="http://schemas.openxmlformats.org/officeDocument/2006/relationships/extended-properties" Target="/docProps/app.xml" Id="Rfd64c56c53f4449b" /><Relationship Type="http://schemas.openxmlformats.org/officeDocument/2006/relationships/officeDocument" Target="/ppt/presentation.xml" Id="R61bbb0c54a9c4a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bac1b5a30e42c7"/>
  </p:sldMasterIdLst>
  <p:notesMasterIdLst>
    <p:notesMasterId xmlns:r="http://schemas.openxmlformats.org/officeDocument/2006/relationships" r:id="R50a70ff37a724c9c"/>
  </p:notesMasterIdLst>
  <p:sldIdLst>
    <p:sldId xmlns:r="http://schemas.openxmlformats.org/officeDocument/2006/relationships" id="256" r:id="Rd88862b19db446b4"/>
    <p:sldId xmlns:r="http://schemas.openxmlformats.org/officeDocument/2006/relationships" id="257" r:id="R3dc9423bb75740cf"/>
    <p:sldId xmlns:r="http://schemas.openxmlformats.org/officeDocument/2006/relationships" id="258" r:id="Rfed179a35c724c28"/>
    <p:sldId xmlns:r="http://schemas.openxmlformats.org/officeDocument/2006/relationships" id="259" r:id="R3e28d4c4ea214616"/>
    <p:sldId xmlns:r="http://schemas.openxmlformats.org/officeDocument/2006/relationships" id="260" r:id="R605bd60e873a4bc5"/>
    <p:sldId xmlns:r="http://schemas.openxmlformats.org/officeDocument/2006/relationships" id="261" r:id="Rc7b62a329f3546aa"/>
    <p:sldId xmlns:r="http://schemas.openxmlformats.org/officeDocument/2006/relationships" id="262" r:id="R38bb01b2650f4e9a"/>
    <p:sldId xmlns:r="http://schemas.openxmlformats.org/officeDocument/2006/relationships" id="263" r:id="R07ea5d16f3874beb"/>
    <p:sldId xmlns:r="http://schemas.openxmlformats.org/officeDocument/2006/relationships" id="264" r:id="Rdcec8bae95034304"/>
    <p:sldId xmlns:r="http://schemas.openxmlformats.org/officeDocument/2006/relationships" id="265" r:id="R89b9bd7f160d433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d4fa04a2c04982" /><Relationship Type="http://schemas.openxmlformats.org/officeDocument/2006/relationships/slideMaster" Target="/ppt/slideMasters/slideMaster1.xml" Id="R58bac1b5a30e42c7" /><Relationship Type="http://schemas.openxmlformats.org/officeDocument/2006/relationships/notesMaster" Target="/ppt/notesMasters/notesMaster1.xml" Id="R50a70ff37a724c9c" /><Relationship Type="http://schemas.openxmlformats.org/officeDocument/2006/relationships/presProps" Target="/ppt/presProps.xml" Id="Rddc983ad9d2d40c5" /><Relationship Type="http://schemas.openxmlformats.org/officeDocument/2006/relationships/tableStyles" Target="/ppt/tableStyles.xml" Id="R0e5ea53907c5406c" /><Relationship Type="http://schemas.openxmlformats.org/officeDocument/2006/relationships/slide" Target="/ppt/slides/slide1.xml" Id="Rd88862b19db446b4" /><Relationship Type="http://schemas.openxmlformats.org/officeDocument/2006/relationships/slide" Target="/ppt/slides/slide2.xml" Id="R3dc9423bb75740cf" /><Relationship Type="http://schemas.openxmlformats.org/officeDocument/2006/relationships/slide" Target="/ppt/slides/slide3.xml" Id="Rfed179a35c724c28" /><Relationship Type="http://schemas.openxmlformats.org/officeDocument/2006/relationships/slide" Target="/ppt/slides/slide4.xml" Id="R3e28d4c4ea214616" /><Relationship Type="http://schemas.openxmlformats.org/officeDocument/2006/relationships/slide" Target="/ppt/slides/slide5.xml" Id="R605bd60e873a4bc5" /><Relationship Type="http://schemas.openxmlformats.org/officeDocument/2006/relationships/slide" Target="/ppt/slides/slide6.xml" Id="Rc7b62a329f3546aa" /><Relationship Type="http://schemas.openxmlformats.org/officeDocument/2006/relationships/slide" Target="/ppt/slides/slide7.xml" Id="R38bb01b2650f4e9a" /><Relationship Type="http://schemas.openxmlformats.org/officeDocument/2006/relationships/slide" Target="/ppt/slides/slide8.xml" Id="R07ea5d16f3874beb" /><Relationship Type="http://schemas.openxmlformats.org/officeDocument/2006/relationships/slide" Target="/ppt/slides/slide9.xml" Id="Rdcec8bae95034304" /><Relationship Type="http://schemas.openxmlformats.org/officeDocument/2006/relationships/slide" Target="/ppt/slides/slide10.xml" Id="R89b9bd7f160d43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de974c2c4744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1bfecfb2204b74" /><Relationship Type="http://schemas.openxmlformats.org/officeDocument/2006/relationships/notesMaster" Target="/ppt/notesMasters/notesMaster1.xml" Id="Rd24d0a84c10649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33396cef624b8d" /><Relationship Type="http://schemas.openxmlformats.org/officeDocument/2006/relationships/notesMaster" Target="/ppt/notesMasters/notesMaster1.xml" Id="R929f81bcc0e345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81dcab1e2f4022" /><Relationship Type="http://schemas.openxmlformats.org/officeDocument/2006/relationships/notesMaster" Target="/ppt/notesMasters/notesMaster1.xml" Id="R8277764a3c044a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01d1b1a36c43b3" /><Relationship Type="http://schemas.openxmlformats.org/officeDocument/2006/relationships/notesMaster" Target="/ppt/notesMasters/notesMaster1.xml" Id="R0826df9d125143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23f321474e4ff3" /><Relationship Type="http://schemas.openxmlformats.org/officeDocument/2006/relationships/notesMaster" Target="/ppt/notesMasters/notesMaster1.xml" Id="R65356234434046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c8e7da4ae964ee8" /><Relationship Type="http://schemas.openxmlformats.org/officeDocument/2006/relationships/notesMaster" Target="/ppt/notesMasters/notesMaster1.xml" Id="R0ecd8020ef8746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11f538be074cdd" /><Relationship Type="http://schemas.openxmlformats.org/officeDocument/2006/relationships/notesMaster" Target="/ppt/notesMasters/notesMaster1.xml" Id="R394087cde38b47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afde483f924b38" /><Relationship Type="http://schemas.openxmlformats.org/officeDocument/2006/relationships/notesMaster" Target="/ppt/notesMasters/notesMaster1.xml" Id="R585d1979768f472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79a9afa3b94a1a" /><Relationship Type="http://schemas.openxmlformats.org/officeDocument/2006/relationships/notesMaster" Target="/ppt/notesMasters/notesMaster1.xml" Id="R3aed6318b8004fe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40bcd1f6cf74b20" /><Relationship Type="http://schemas.openxmlformats.org/officeDocument/2006/relationships/notesMaster" Target="/ppt/notesMasters/notesMaster1.xml" Id="Rce85caaae6f345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CORE MESSAGE: Continuum makes compliance persistent: identity is checked whenever value moves, not only at onboarding.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workspace: product specification, demo script, deployment record (2026-08-03).</a:t>
            </a:r>
          </a:p>
          <a:p xmlns:a="http://schemas.openxmlformats.org/drawingml/2006/main">
            <a:r>
              <a:t>- User-provided Continuum logo.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CORE MESSAGE: The core market gap is not onboarding—it is maintaining eligibility after a position becomes transferable.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workspace: product specification, demo script, deployment record (2026-08-03).</a:t>
            </a:r>
          </a:p>
          <a:p xmlns:a="http://schemas.openxmlformats.org/drawingml/2006/main">
            <a:r>
              <a:t>- User-provided Continuum logo.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CORE MESSAGE: Continuum embeds the policy into the asset lifecycle—verification, issuance, transfer, and controlled exit.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workspace: product specification, demo script, deployment record (2026-08-03).</a:t>
            </a:r>
          </a:p>
          <a:p xmlns:a="http://schemas.openxmlformats.org/drawingml/2006/main">
            <a:r>
              <a:t>- User-provided Continuum logo.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CORE MESSAGE: The user sees four intuitive steps; underneath, each step enforces eligibility and records an auditable event.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workspace: product specification, demo script, deployment record (2026-08-03).</a:t>
            </a:r>
          </a:p>
          <a:p xmlns:a="http://schemas.openxmlformats.org/drawingml/2006/main">
            <a:r>
              <a:t>- User-provided Continuum logo.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CORE MESSAGE: The modular architecture minimizes trust boundaries and makes the Cleanverse identity integration replaceable without redesigning the financial core.</a:t>
            </a:r>
          </a:p>
          <a:p xmlns:a="http://schemas.openxmlformats.org/drawingml/2006/main">
            <a:r>
              <a:t>Be explicit: the current testnet registry is a mock; native Cleanverse integration is the target integration pending sandbox confirmation.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workspace: product specification, demo script, deployment record (2026-08-03).</a:t>
            </a:r>
          </a:p>
          <a:p xmlns:a="http://schemas.openxmlformats.org/drawingml/2006/main">
            <a:r>
              <a:t>- User-provided Continuum logo.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CORE MESSAGE: Continuum monetizes aligned outcomes: assets kept eligible, institutions served, and integrations deployed.</a:t>
            </a:r>
          </a:p>
          <a:p xmlns:a="http://schemas.openxmlformats.org/drawingml/2006/main">
            <a:r>
              <a:t>Business-model figures are directional and should be finalized after Cleanverse sandbox and partner discussions.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workspace: product specification, demo script, deployment record (2026-08-03).</a:t>
            </a:r>
          </a:p>
          <a:p xmlns:a="http://schemas.openxmlformats.org/drawingml/2006/main">
            <a:r>
              <a:t>- User-provided Continuum logo.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CORE MESSAGE: The wedge is concrete: prove permissioned staking end to end, earn pilot partners, then reuse the same policy rail across other verified assets.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workspace: product specification, demo script, deployment record (2026-08-03).</a:t>
            </a:r>
          </a:p>
          <a:p xmlns:a="http://schemas.openxmlformats.org/drawingml/2006/main">
            <a:r>
              <a:t>- User-provided Continuum logo.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CORE MESSAGE: Continuum’s differentiation is continuous policy enforcement plus a fair exit mechanism, packaged as reusable infrastructure.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workspace: product specification, demo script, deployment record (2026-08-03).</a:t>
            </a:r>
          </a:p>
          <a:p xmlns:a="http://schemas.openxmlformats.org/drawingml/2006/main">
            <a:r>
              <a:t>- User-provided Continuum logo.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CORE MESSAGE: Continuum has working on-chain proof; registration unlocks the native Cleanverse integration and institutional pilot phase.</a:t>
            </a:r>
          </a:p>
          <a:p xmlns:a="http://schemas.openxmlformats.org/drawingml/2006/main">
            <a:r>
              <a:t>Do not overclaim: rewards are simulated and stMON is not yet a Cleanverse-verified asset.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workspace: product specification, demo script, deployment record (2026-08-03).</a:t>
            </a:r>
          </a:p>
          <a:p xmlns:a="http://schemas.openxmlformats.org/drawingml/2006/main">
            <a:r>
              <a:t>- User-provided Continuum logo.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CORE MESSAGE: The ask is approval and access: help Continuum move from a validated testnet prototype to a native Cleanverse integration and pilot.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workspace: product specification, demo script, deployment record (2026-08-03).</a:t>
            </a:r>
          </a:p>
          <a:p xmlns:a="http://schemas.openxmlformats.org/drawingml/2006/main">
            <a:r>
              <a:t>- User-provided Continuum logo.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d175a089914c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fef2931ae4421b" /><Relationship Type="http://schemas.openxmlformats.org/officeDocument/2006/relationships/slideLayout" Target="/ppt/slideLayouts/slideLayout1.xml" Id="Rcc55d19cc21048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55d19cc21048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4da73ff8cc46d7" /><Relationship Type="http://schemas.openxmlformats.org/officeDocument/2006/relationships/image" Target="/ppt/media/image.png" Id="R6c261ec944eb4f4e" /><Relationship Type="http://schemas.openxmlformats.org/officeDocument/2006/relationships/notesSlide" Target="/ppt/notesSlides/notesSlide1.xml" Id="R6511704de41543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7290c1474c4824" /><Relationship Type="http://schemas.openxmlformats.org/officeDocument/2006/relationships/notesSlide" Target="/ppt/notesSlides/notesSlide2.xml" Id="Rff0c2b7cf7b343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e83c140a0a4be9" /><Relationship Type="http://schemas.openxmlformats.org/officeDocument/2006/relationships/notesSlide" Target="/ppt/notesSlides/notesSlide3.xml" Id="R296264ca9bbc44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f3a37d932e445e" /><Relationship Type="http://schemas.openxmlformats.org/officeDocument/2006/relationships/notesSlide" Target="/ppt/notesSlides/notesSlide4.xml" Id="R65ea3e54a76443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72feaf5fe74523" /><Relationship Type="http://schemas.openxmlformats.org/officeDocument/2006/relationships/notesSlide" Target="/ppt/notesSlides/notesSlide5.xml" Id="Re1e1711cbf5942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d31c4f19314449" /><Relationship Type="http://schemas.openxmlformats.org/officeDocument/2006/relationships/notesSlide" Target="/ppt/notesSlides/notesSlide6.xml" Id="Ra519a4480c154b6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22f6ce0864355" /><Relationship Type="http://schemas.openxmlformats.org/officeDocument/2006/relationships/notesSlide" Target="/ppt/notesSlides/notesSlide7.xml" Id="Rbee97aa04e364d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818abf976a4d01" /><Relationship Type="http://schemas.openxmlformats.org/officeDocument/2006/relationships/notesSlide" Target="/ppt/notesSlides/notesSlide8.xml" Id="R5e6b1e923b39422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b4bb17f6144a52" /><Relationship Type="http://schemas.openxmlformats.org/officeDocument/2006/relationships/notesSlide" Target="/ppt/notesSlides/notesSlide9.xml" Id="Rf587d1d712e0400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130c196ac04c44" /><Relationship Type="http://schemas.openxmlformats.org/officeDocument/2006/relationships/image" Target="/ppt/media/image2.png" Id="R4d29be2b050f48c7" /><Relationship Type="http://schemas.openxmlformats.org/officeDocument/2006/relationships/notesSlide" Target="/ppt/notesSlides/notesSlide10.xml" Id="R02350fc3939e4a3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B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BB2F3F-4DBE-4E26-9D2F-ED32A830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-952500"/>
            <a:ext cx="6191250" cy="8286750"/>
          </a:xfrm>
          <a:prstGeom xmlns:a="http://schemas.openxmlformats.org/drawingml/2006/main" prst="roundRect">
            <a:avLst>
              <a:gd name="adj" fmla="val 1846"/>
            </a:avLst>
          </a:prstGeom>
          <a:solidFill xmlns:a="http://schemas.openxmlformats.org/drawingml/2006/main">
            <a:srgbClr val="0B29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C5456D-B451-4409-A59E-361A7C36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66750"/>
            <a:ext cx="40957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10366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261ec944eb4f4e"/>
          <a:stretch xmlns:a="http://schemas.openxmlformats.org/drawingml/2006/main"/>
        </p:blipFill>
        <p:spPr>
          <a:xfrm xmlns:a="http://schemas.openxmlformats.org/drawingml/2006/main">
            <a:off x="8524875" y="952500"/>
            <a:ext cx="3429000" cy="3429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ED77BA-1F31-4B91-BE77-3072C6E3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1D9D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1D9D1"/>
                </a:solidFill>
                <a:latin typeface="Aptos"/>
                <a:ea typeface="Aptos"/>
                <a:cs typeface="Aptos"/>
              </a:rPr>
              <a:t>BUSINESS PLAN / REGISTRATION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C039B0-C5E9-4638-97E1-035FF7FD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619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Continuum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7955B-0514-49A8-A3C0-DC1056FF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Compliance that travels</a:t>
            </a:r>
          </a:p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with the token.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9302F1-0205-4EE6-9C45-4A29FD10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590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C8D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9C8DA"/>
                </a:solidFill>
                <a:latin typeface="Aptos"/>
                <a:ea typeface="Aptos"/>
                <a:cs typeface="Aptos"/>
              </a:rPr>
              <a:t>Permissioned liquid staking on Monad, designed around Cleanverse A-Pass and verified assets.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2EA894-3B7C-4A78-B02E-107230BC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3810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76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5412BF-0F5C-4705-B87E-A773D527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00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CLEANVERSE REGISTRATION • AUG 2026</a:t>
            </a:r>
          </a:p>
        </p:txBody>
      </p:sp>
    </p:spTree>
    <p:extLst>
      <p:ext uri="{BB962C8B-B14F-4D97-AF65-F5344CB8AC3E}">
        <p14:creationId xmlns:p14="http://schemas.microsoft.com/office/powerpoint/2010/main" val="1243626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31E94A-13CC-404E-B0BD-D5DE09F1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64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764FF"/>
                </a:solidFill>
                <a:latin typeface="Aptos"/>
                <a:ea typeface="Aptos"/>
                <a:cs typeface="Aptos"/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F0888D-40E0-4441-952A-A0A77E71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13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13E"/>
                </a:solidFill>
                <a:latin typeface="Aptos Display"/>
                <a:ea typeface="Aptos Display"/>
                <a:cs typeface="Aptos Display"/>
              </a:rPr>
              <a:t>Compliance often ends at the front door.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B675EC-1C90-48DE-B9C9-C3795F64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63AEF0-6CC4-4131-ABF1-60BF8774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 credential can lapse, be revoked, or become ineligible—while the DeFi position continues circulating.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ED634F-F03C-42B3-915B-4C98B513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820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4E5626-28E7-455F-AEB3-DDA5A3D3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7EBACF-B575-42EB-B2DF-E853DE42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3E"/>
                </a:solidFill>
                <a:latin typeface="Aptos"/>
                <a:ea typeface="Aptos"/>
                <a:cs typeface="Aptos"/>
              </a:rPr>
              <a:t>ONBOARD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727CA1-CCFE-4E43-847B-AD1240B2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Identity checked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2257C0-A2C5-466F-B0B1-D3B595D7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476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9AFCC-233D-4D9E-90A5-8FB11050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1051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3E"/>
                </a:solidFill>
                <a:latin typeface="Aptos"/>
                <a:ea typeface="Aptos"/>
                <a:cs typeface="Aptos"/>
              </a:rPr>
              <a:t>STAKE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3E27CD-DD84-411A-AA0D-2F50E9E7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4290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Position issued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7E9575-45A3-4F2F-82B9-35ACE687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76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8FD861-5B2E-4270-BC84-1C47E9EE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051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3E"/>
                </a:solidFill>
                <a:latin typeface="Aptos"/>
                <a:ea typeface="Aptos"/>
                <a:cs typeface="Aptos"/>
              </a:rPr>
              <a:t>TRANSFER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578865-3CB0-4664-8946-73212988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290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Often unchecked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8C05F5-7072-4B9A-85DD-39382754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476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EE33D0-5E5C-47A2-B52F-ED71DABD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1051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3E"/>
                </a:solidFill>
                <a:latin typeface="Aptos"/>
                <a:ea typeface="Aptos"/>
                <a:cs typeface="Aptos"/>
              </a:rPr>
              <a:t>EXIT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C78E7F-A29F-4B30-8903-B719E060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4290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Risk discovered late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833698-72D1-499E-9B76-43EB3561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8204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061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1F7536-E583-4C9B-9A9B-22FA6A4F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1D9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1D9D1"/>
                </a:solidFill>
                <a:latin typeface="Aptos"/>
                <a:ea typeface="Aptos"/>
                <a:cs typeface="Aptos"/>
              </a:rPr>
              <a:t>The gap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24A5CA-9D57-4648-A185-CDFC0526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Rules that do not travel with the asset create an avoidable control failure.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1DF024-FD66-49C0-A7DF-10FE11E4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8352E3-B29C-4D74-A7D0-DDCF4A89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CONTINUUM × CLEANVERSE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07473E-8AB9-4B43-8A19-A8551D0F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53200"/>
            <a:ext cx="3219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CONFIDENTIAL • REGISTRATION DECK</a:t>
            </a:r>
          </a:p>
        </p:txBody>
      </p:sp>
    </p:spTree>
    <p:extLst>
      <p:ext uri="{BB962C8B-B14F-4D97-AF65-F5344CB8AC3E}">
        <p14:creationId xmlns:p14="http://schemas.microsoft.com/office/powerpoint/2010/main" val="7860608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508820-B574-48CE-9449-8CF43019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64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764FF"/>
                </a:solidFill>
                <a:latin typeface="Aptos"/>
                <a:ea typeface="Aptos"/>
                <a:cs typeface="Aptos"/>
              </a:rPr>
              <a:t>THE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4B561C-FEF4-4618-9CFA-3627412D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13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13E"/>
                </a:solidFill>
                <a:latin typeface="Aptos Display"/>
                <a:ea typeface="Aptos Display"/>
                <a:cs typeface="Aptos Display"/>
              </a:rPr>
              <a:t>Continuum checks eligibility at every value movement.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E7A709-9730-4602-8F8C-E2BE6D02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A48212-59F8-49CC-9BEB-89E32B50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2324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DC79BE-E830-4735-9D65-4534995D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64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764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DBA9B3-EC6B-4E9B-BDE8-EB435E83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213E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E10A85-D620-49CB-B7FD-058D8E06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19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 wallet-bound, revocable credential establishes eligibility.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C07006-7FBA-4BB2-AC43-2E8EFC56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85950"/>
            <a:ext cx="2324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3B9B0D-FE38-4ADA-965D-3DBD4E83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717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64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764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7C621C-632B-40D7-BA4B-FDF55B1B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908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213E"/>
                </a:solidFill>
                <a:latin typeface="Aptos"/>
                <a:ea typeface="Aptos"/>
                <a:cs typeface="Aptos"/>
              </a:rPr>
              <a:t>Stake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C5B303-B28B-479D-80B8-36355ADC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43250"/>
            <a:ext cx="219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Eligible users deposit MON and receive a policy-gated receipt.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0991C2-F50B-4FDE-B281-443276C7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85950"/>
            <a:ext cx="2324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FF7818-83E6-414F-BDAF-2FE9E265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717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64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764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82B536-C262-46E7-A518-90B9FAEC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908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213E"/>
                </a:solidFill>
                <a:latin typeface="Aptos"/>
                <a:ea typeface="Aptos"/>
                <a:cs typeface="Aptos"/>
              </a:rPr>
              <a:t>Move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F5361D-DD38-4755-88A8-E1103FEF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43250"/>
            <a:ext cx="219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Transfers re-check the recipient at the token layer.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855BA8-57D7-4FD0-94A0-9E7826D4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85950"/>
            <a:ext cx="2324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9D7B4B-FCD9-4BD1-8F62-499B56CF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717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64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764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FADC7F-1709-4EFC-AED4-9139323F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908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213E"/>
                </a:solidFill>
                <a:latin typeface="Aptos"/>
                <a:ea typeface="Aptos"/>
                <a:cs typeface="Aptos"/>
              </a:rPr>
              <a:t>Exit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F27091-4416-4C65-A2F0-B36CFB76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43250"/>
            <a:ext cx="219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Revoked holders use a controlled redemption path to an eligible receiver.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B28559-4D21-4090-A842-C40B49D5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8204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DD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87BA95-7303-4DAE-AD75-CD7CB268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A08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A085"/>
                </a:solidFill>
                <a:latin typeface="Aptos"/>
                <a:ea typeface="Aptos"/>
                <a:cs typeface="Aptos"/>
              </a:rPr>
              <a:t>DESIGN PRINCIPLE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C7A698-9EF5-41D8-99AE-154A7FAC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95900"/>
            <a:ext cx="581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61B3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61B3B"/>
                </a:solidFill>
                <a:latin typeface="Aptos"/>
                <a:ea typeface="Aptos"/>
                <a:cs typeface="Aptos"/>
              </a:rPr>
              <a:t>Compliance without confiscation.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2E5073-9C9B-4DB4-9EB1-416949E7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959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Freeze circulation. Preserve a fair, reviewable exit.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149C22-76EA-4D0C-BCC3-50377F83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EB4FAB-E620-403A-9843-FF810796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CONTINUUM × CLEANVERSE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6B6659-DDDE-42CB-A14C-E8816470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53200"/>
            <a:ext cx="3219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CONFIDENTIAL • REGISTRATION DECK</a:t>
            </a:r>
          </a:p>
        </p:txBody>
      </p:sp>
    </p:spTree>
    <p:extLst>
      <p:ext uri="{BB962C8B-B14F-4D97-AF65-F5344CB8AC3E}">
        <p14:creationId xmlns:p14="http://schemas.microsoft.com/office/powerpoint/2010/main" val="17654624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B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72BEA7-AB86-40C0-9D73-EB8CBBE5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1D9D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1D9D1"/>
                </a:solidFill>
                <a:latin typeface="Aptos"/>
                <a:ea typeface="Aptos"/>
                <a:cs typeface="Aptos"/>
              </a:rPr>
              <a:t>PRODUCT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6ABD57-C904-4582-9A6A-FC295C64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simple user flow hides a rigorous policy engine.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5659CC-38DC-4A12-8D57-760F2DE5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4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7B4C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A380C1-889F-4FF3-A7E5-1DA3A44D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324100" cy="25717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103B64"/>
          </a:solidFill>
          <a:ln xmlns:a="http://schemas.openxmlformats.org/drawingml/2006/main" w="9525">
            <a:solidFill>
              <a:srgbClr val="294B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C97CFB-120F-4301-9958-505FD6C3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1D9D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1D9D1"/>
                </a:solidFill>
                <a:latin typeface="Aptos"/>
                <a:ea typeface="Aptos"/>
                <a:cs typeface="Aptos"/>
              </a:rPr>
              <a:t>A-PASS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3DDEC5-EB7C-442A-9E14-AB14C7C1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1847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Verified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B38DD0-FC36-4C71-BC59-F5849B95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0D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FC0D4"/>
                </a:solidFill>
                <a:latin typeface="Aptos"/>
                <a:ea typeface="Aptos"/>
                <a:cs typeface="Aptos"/>
              </a:rPr>
              <a:t>Wallet reads eligible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059D88-AB98-409B-A415-DB03D58B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1465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1D9D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41D9D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828FE6-2EE4-4236-A5F2-B62BC0B7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2324100" cy="25717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0B2A51"/>
          </a:solidFill>
          <a:ln xmlns:a="http://schemas.openxmlformats.org/drawingml/2006/main" w="9525">
            <a:solidFill>
              <a:srgbClr val="294B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D1C687-A626-4C06-AFFD-22AB1744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4790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1D9D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1D9D1"/>
                </a:solidFill>
                <a:latin typeface="Aptos"/>
                <a:ea typeface="Aptos"/>
                <a:cs typeface="Aptos"/>
              </a:rPr>
              <a:t>VAULT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27498A-7D0E-497D-A2EA-FE91A0CB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05100"/>
            <a:ext cx="1847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Stake MON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5E7C2A-73D6-49E8-8F6D-FAC34C9B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38550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0D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FC0D4"/>
                </a:solidFill>
                <a:latin typeface="Aptos"/>
                <a:ea typeface="Aptos"/>
                <a:cs typeface="Aptos"/>
              </a:rPr>
              <a:t>Mint stMON receipt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7FE9FA-B91D-48E1-AC48-B427C879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91465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1D9D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41D9D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D655D6-82F3-4F17-9268-C0BC8882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00250"/>
            <a:ext cx="2324100" cy="25717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0B2A51"/>
          </a:solidFill>
          <a:ln xmlns:a="http://schemas.openxmlformats.org/drawingml/2006/main" w="9525">
            <a:solidFill>
              <a:srgbClr val="294B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5DA021-A31D-47FD-9916-6D329721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90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1D9D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1D9D1"/>
                </a:solidFill>
                <a:latin typeface="Aptos"/>
                <a:ea typeface="Aptos"/>
                <a:cs typeface="Aptos"/>
              </a:rPr>
              <a:t>TOKEN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52831B-B627-4E75-86E7-88E6D209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05100"/>
            <a:ext cx="1847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Transfer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E8D7F3-B63C-4BA7-A169-4968891F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38550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0D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FC0D4"/>
                </a:solidFill>
                <a:latin typeface="Aptos"/>
                <a:ea typeface="Aptos"/>
                <a:cs typeface="Aptos"/>
              </a:rPr>
              <a:t>Recipient re-checked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844C90-E8D5-49CB-A384-F4DC736B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14650"/>
            <a:ext cx="323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1D9D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41D9D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A94313-F70E-47AA-984A-5E4DAD22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0250"/>
            <a:ext cx="2324100" cy="25717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0B2A51"/>
          </a:solidFill>
          <a:ln xmlns:a="http://schemas.openxmlformats.org/drawingml/2006/main" w="9525">
            <a:solidFill>
              <a:srgbClr val="294B6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B858F2-0312-4F76-A512-1A0E28F5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4790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1D9D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1D9D1"/>
                </a:solidFill>
                <a:latin typeface="Aptos"/>
                <a:ea typeface="Aptos"/>
                <a:cs typeface="Aptos"/>
              </a:rPr>
              <a:t>QUEUE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3D3E05-6C61-4E3E-AED2-9BDD75BB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05100"/>
            <a:ext cx="1847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Controlled exit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5254D8-2C68-44AC-A633-9F4E4AC4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38550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FC0D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FC0D4"/>
                </a:solidFill>
                <a:latin typeface="Aptos"/>
                <a:ea typeface="Aptos"/>
                <a:cs typeface="Aptos"/>
              </a:rPr>
              <a:t>Officer review + settlement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F6D273-77B8-4D70-826C-380C9E8E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Every decision creates an on-chain event trail with requester and receiver attribution.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1C203B-DEDA-47AB-8785-AA1EC383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48250"/>
            <a:ext cx="16764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76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1CD994-9C83-43ED-84A9-A1D4D9F6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2578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AUDITABLE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EE0FD8-902E-4D6D-A33A-845E2AD7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180CAA-515A-4F27-9876-40E7814C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3A4B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3A4BB"/>
                </a:solidFill>
                <a:latin typeface="Aptos"/>
                <a:ea typeface="Aptos"/>
                <a:cs typeface="Aptos"/>
              </a:rPr>
              <a:t>CONTINUUM × CLEANVERSE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2D3881-51B0-448F-9C0D-7D0F076E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53200"/>
            <a:ext cx="3219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3A4B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3A4BB"/>
                </a:solidFill>
                <a:latin typeface="Aptos"/>
                <a:ea typeface="Aptos"/>
                <a:cs typeface="Aptos"/>
              </a:rPr>
              <a:t>CONFIDENTIAL • REGISTRATION DECK</a:t>
            </a:r>
          </a:p>
        </p:txBody>
      </p:sp>
    </p:spTree>
    <p:extLst>
      <p:ext uri="{BB962C8B-B14F-4D97-AF65-F5344CB8AC3E}">
        <p14:creationId xmlns:p14="http://schemas.microsoft.com/office/powerpoint/2010/main" val="16242901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3983F3-4CC9-4BAE-A17E-192F13CF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64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764FF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E43E15-C74F-44EB-8EF5-E40B29CE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13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13E"/>
                </a:solidFill>
                <a:latin typeface="Aptos Display"/>
                <a:ea typeface="Aptos Display"/>
                <a:cs typeface="Aptos Display"/>
              </a:rPr>
              <a:t>Four focused contracts keep identity, value, and review separate.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0D109B-1BEB-4CF0-9C87-FB01C340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EA7433-45CF-48CF-A951-14C28CF1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2DE1C4-8B04-466A-B701-0C60CA5E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13E"/>
                </a:solidFill>
                <a:latin typeface="Aptos"/>
                <a:ea typeface="Aptos"/>
                <a:cs typeface="Aptos"/>
              </a:rPr>
              <a:t>A-Pass adapter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54A20F-2FF4-4329-903C-4E6E9A87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574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Identity 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059818-564B-4081-B02E-CD807CA4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1D9D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1D9D1"/>
                </a:solidFill>
                <a:latin typeface="Aptos"/>
                <a:ea typeface="Aptos"/>
                <a:cs typeface="Aptos"/>
              </a:rPr>
              <a:t>verify • revoke • reinstate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5A146E-5EFD-40DD-8A42-A6AF1EAB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C10913-0DF3-4869-94D9-80BC4178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002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13E"/>
                </a:solidFill>
                <a:latin typeface="Aptos"/>
                <a:ea typeface="Aptos"/>
                <a:cs typeface="Aptos"/>
              </a:rPr>
              <a:t>Staking vault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7AE478-7CD3-4851-97C3-D8E658BD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574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MON custody + rate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CB3EF8-F560-44DB-B1D4-5BBDF2E8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8130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764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764FF"/>
                </a:solidFill>
                <a:latin typeface="Aptos"/>
                <a:ea typeface="Aptos"/>
                <a:cs typeface="Aptos"/>
              </a:rPr>
              <a:t>stake • unstake • rewards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747523-888A-479D-85B0-7DD89398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2CB102-D56A-4607-8709-11491E08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576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13E"/>
                </a:solidFill>
                <a:latin typeface="Aptos"/>
                <a:ea typeface="Aptos"/>
                <a:cs typeface="Aptos"/>
              </a:rPr>
              <a:t>stMON token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99454C-96CD-4191-AD68-E75558FC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Transfer policy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6ED357-CAB9-4E8F-8571-EBD4D1DB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386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5C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C5CFC"/>
                </a:solidFill>
                <a:latin typeface="Aptos"/>
                <a:ea typeface="Aptos"/>
                <a:cs typeface="Aptos"/>
              </a:rPr>
              <a:t>mint • burn • gated transfer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C76B14-544C-4F6D-9002-11A05E53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385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946213-B775-494A-B55E-EC7D542C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576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13E"/>
                </a:solidFill>
                <a:latin typeface="Aptos"/>
                <a:ea typeface="Aptos"/>
                <a:cs typeface="Aptos"/>
              </a:rPr>
              <a:t>Redemption queue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415198-EF88-4CD0-80BA-C7D71A39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148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Review + settlement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B369A7-A86A-4016-A1B7-865C4DF3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3865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6B57"/>
                </a:solidFill>
                <a:latin typeface="Aptos"/>
                <a:ea typeface="Aptos"/>
                <a:cs typeface="Aptos"/>
              </a:rPr>
              <a:t>request • approve • settle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F587DD-8FFB-4A96-9D02-238B1A57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5FE389-460D-4676-9EDD-D5FAAED3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92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13E"/>
                </a:solidFill>
                <a:latin typeface="Aptos"/>
                <a:ea typeface="Aptos"/>
                <a:cs typeface="Aptos"/>
              </a:rPr>
              <a:t>Integration posture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9587C7-0ECE-4C2B-ACB9-3F04E5FD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381625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current testnet uses a mock registry; the production path is an adapter to Cleanverse’s on-chain-readable credential interface.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061FCF-9A04-47ED-BE5A-ABBB46A9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A65FC9-C0A0-4092-9DD5-49078300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CONTINUUM × CLEANVERSE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F64234-D85C-4828-B6C7-F2924388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53200"/>
            <a:ext cx="3219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CONFIDENTIAL • REGISTRATION DECK</a:t>
            </a:r>
          </a:p>
        </p:txBody>
      </p:sp>
    </p:spTree>
    <p:extLst>
      <p:ext uri="{BB962C8B-B14F-4D97-AF65-F5344CB8AC3E}">
        <p14:creationId xmlns:p14="http://schemas.microsoft.com/office/powerpoint/2010/main" val="9565725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611230-32E5-4E34-A94F-996BEA6E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64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764FF"/>
                </a:solidFill>
                <a:latin typeface="Aptos"/>
                <a:ea typeface="Aptos"/>
                <a:cs typeface="Aptos"/>
              </a:rPr>
              <a:t>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82DFEB-4922-4013-8F4E-CAA2080D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13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13E"/>
                </a:solidFill>
                <a:latin typeface="Aptos Display"/>
                <a:ea typeface="Aptos Display"/>
                <a:cs typeface="Aptos Display"/>
              </a:rPr>
              <a:t>Revenue scales with assets secured and compliance services used.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5D547D-F7C5-4612-9C66-8C7436C6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3E6769-7802-4D3F-BF98-C38EC060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13E"/>
                </a:solidFill>
                <a:latin typeface="Aptos"/>
                <a:ea typeface="Aptos"/>
                <a:cs typeface="Aptos"/>
              </a:rPr>
              <a:t>Protocol fee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F5AD6D-85C0-49C6-AB72-ED59A56A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62150"/>
            <a:ext cx="552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 small share of staking rewards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90F41A-1D29-4BCA-8A18-A800E616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62150"/>
            <a:ext cx="2362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764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764FF"/>
                </a:solidFill>
                <a:latin typeface="Aptos"/>
                <a:ea typeface="Aptos"/>
                <a:cs typeface="Aptos"/>
              </a:rPr>
              <a:t>Recurring • usage-aligned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CC473B-2F2B-471F-BB57-01E85A6F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F50C02-FD76-44F4-B0DB-E6399352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13E"/>
                </a:solidFill>
                <a:latin typeface="Aptos"/>
                <a:ea typeface="Aptos"/>
                <a:cs typeface="Aptos"/>
              </a:rPr>
              <a:t>Compliance service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B2D856-DD19-4CC6-85A2-CB1E9CE7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067050"/>
            <a:ext cx="552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Institutional policy, reporting, and review tools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4EF54F-B8B9-490B-82AB-EC485AED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67050"/>
            <a:ext cx="2362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6A08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A085"/>
                </a:solidFill>
                <a:latin typeface="Aptos"/>
                <a:ea typeface="Aptos"/>
                <a:cs typeface="Aptos"/>
              </a:rPr>
              <a:t>Subscription • B2B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F49D46-ACA1-4E84-88BE-ADEE9E47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CF348B-47C1-4B1A-A3DF-A4DB335F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13E"/>
                </a:solidFill>
                <a:latin typeface="Aptos"/>
                <a:ea typeface="Aptos"/>
                <a:cs typeface="Aptos"/>
              </a:rPr>
              <a:t>Integration layer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4D3DFE-56B8-4147-90FD-714C0144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171950"/>
            <a:ext cx="552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White-label deployment for wallets, custodians, and issuers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A52372-58DD-4F0F-A720-AB5A174A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71950"/>
            <a:ext cx="2362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6A08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A085"/>
                </a:solidFill>
                <a:latin typeface="Aptos"/>
                <a:ea typeface="Aptos"/>
                <a:cs typeface="Aptos"/>
              </a:rPr>
              <a:t>Setup + support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2DB6D6-0E8F-4DE6-8059-4A6DB842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B3DA83-72BB-4330-9BCB-21F45F68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8204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61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BCCBE8-F5B5-44E6-9E19-75625E3B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435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1D9D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1D9D1"/>
                </a:solidFill>
                <a:latin typeface="Aptos"/>
                <a:ea typeface="Aptos"/>
                <a:cs typeface="Aptos"/>
              </a:rPr>
              <a:t>North-star metric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D652AF-5B7D-4168-86EF-9E2CE942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4959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Verified assets under policy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A8FD0F-E885-46CA-B141-ACF4494E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5245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VAUP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497266-4F08-4DAE-A568-0AE28FF8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ED3184-7EE4-449B-9D94-F02AF59F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CONTINUUM × CLEANVERSE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4BDCC4-3709-436C-8E1F-466F710F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53200"/>
            <a:ext cx="3219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CONFIDENTIAL • REGISTRATION DECK</a:t>
            </a:r>
          </a:p>
        </p:txBody>
      </p:sp>
    </p:spTree>
    <p:extLst>
      <p:ext uri="{BB962C8B-B14F-4D97-AF65-F5344CB8AC3E}">
        <p14:creationId xmlns:p14="http://schemas.microsoft.com/office/powerpoint/2010/main" val="11373343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210507-7EFF-4E5B-B743-06096962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64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764FF"/>
                </a:solidFill>
                <a:latin typeface="Aptos"/>
                <a:ea typeface="Aptos"/>
                <a:cs typeface="Aptos"/>
              </a:rPr>
              <a:t>GO-TO-MARKET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737E85-9555-4F55-A4DC-D0104240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13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13E"/>
                </a:solidFill>
                <a:latin typeface="Aptos Display"/>
                <a:ea typeface="Aptos Display"/>
                <a:cs typeface="Aptos Display"/>
              </a:rPr>
              <a:t>Start with permissioned staking, then expand the policy rail.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613D17-313D-4CA3-9EB3-85C0CB16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719FC4-9F8D-4345-AC01-D6A169C0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524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276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960C38-09EA-4997-8191-3C45856C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21FC26-C94B-4F2D-8CAB-4CD2F9EA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828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64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764FF"/>
                </a:solidFill>
                <a:latin typeface="Aptos"/>
                <a:ea typeface="Aptos"/>
                <a:cs typeface="Aptos"/>
              </a:rPr>
              <a:t>PROVE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A20F17-99CA-4244-B24D-2433DA9C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145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13E"/>
                </a:solidFill>
                <a:latin typeface="Aptos"/>
                <a:ea typeface="Aptos"/>
                <a:cs typeface="Aptos"/>
              </a:rPr>
              <a:t>Cleanverse registration + Monad testnet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70826B-DE2B-4D85-BA9D-5D71A55F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502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Demonstrate the full verify → stake → transfer → exit loop.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453580-D533-44EA-AB5F-95C1ECF2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5524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61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5B0E2D-8F91-4833-9FD8-719DE8F6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1D458F-A114-4263-BFA6-583D066B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861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64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764FF"/>
                </a:solidFill>
                <a:latin typeface="Aptos"/>
                <a:ea typeface="Aptos"/>
                <a:cs typeface="Aptos"/>
              </a:rPr>
              <a:t>PILOT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3FE66C-1A7A-40C1-9A81-4E284987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3718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13E"/>
                </a:solidFill>
                <a:latin typeface="Aptos"/>
                <a:ea typeface="Aptos"/>
                <a:cs typeface="Aptos"/>
              </a:rPr>
              <a:t>Wallets, custodians, and staking operators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DFC09A-82EF-415E-BABF-1CC84BDB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57550"/>
            <a:ext cx="502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Launch a small institutional cohort with shared controls.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2444E8-CCC4-46C5-830C-AFC2410B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5524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61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0322FF-82E3-4569-A1AD-486DD0EF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01E274-69C3-420A-AE40-12F71AF2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434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64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764FF"/>
                </a:solidFill>
                <a:latin typeface="Aptos"/>
                <a:ea typeface="Aptos"/>
                <a:cs typeface="Aptos"/>
              </a:rPr>
              <a:t>EXPAND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EE964A-4FBD-4C07-B3CB-86C21ED2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6291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13E"/>
                </a:solidFill>
                <a:latin typeface="Aptos"/>
                <a:ea typeface="Aptos"/>
                <a:cs typeface="Aptos"/>
              </a:rPr>
              <a:t>More verified assets and venues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86A418-4E77-4A41-9563-D8275FF4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14850"/>
            <a:ext cx="5029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Reuse the policy layer across lending, payments, and treasury.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937D8A-0EEF-4405-B391-5E944008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D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594D1D-B140-4381-90ED-BC9A0709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9074D6-0B73-4724-BB9A-E35D2896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CONTINUUM × CLEANVERSE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143BAD-81BF-499E-A63F-34929B9D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53200"/>
            <a:ext cx="3219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CONFIDENTIAL • REGISTRATION DECK</a:t>
            </a:r>
          </a:p>
        </p:txBody>
      </p:sp>
    </p:spTree>
    <p:extLst>
      <p:ext uri="{BB962C8B-B14F-4D97-AF65-F5344CB8AC3E}">
        <p14:creationId xmlns:p14="http://schemas.microsoft.com/office/powerpoint/2010/main" val="18889205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B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84E35B-19AA-4272-B57A-FE73BEC2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1D9D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1D9D1"/>
                </a:solidFill>
                <a:latin typeface="Aptos"/>
                <a:ea typeface="Aptos"/>
                <a:cs typeface="Aptos"/>
              </a:rPr>
              <a:t>WHY WE WIN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B3616B-BD20-43B9-B70E-BC088604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moat is policy continuity—not another staking interface.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9293EE-510B-4E32-A40E-22BABAE1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4C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7B4C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752197-E4F6-415C-9B83-FC16A814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1D9D1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41D9D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5B55F5-FB50-46BB-B755-62050B48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5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E6F197-20BD-4852-B6E3-E6FD5826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TOKEN-LAYER CONTROL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3B5296-57E0-4764-9E8A-8E6193E1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5C3D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5C3D4"/>
                </a:solidFill>
                <a:latin typeface="Aptos"/>
                <a:ea typeface="Aptos"/>
                <a:cs typeface="Aptos"/>
              </a:rPr>
              <a:t>Eligibility rules hold wherever the receipt travels.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F259AF-A8C2-4305-9DCB-527E8AD4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8120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1D9D1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41D9D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53F295-FEB2-4779-BD34-BB79D20C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09850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5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B08759-AC77-4168-AD74-46E20CB9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337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REVOCATION-AWARE EXIT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E7EB14-7301-4E8D-A91F-B158742C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71850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5C3D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5C3D4"/>
                </a:solidFill>
                <a:latin typeface="Aptos"/>
                <a:ea typeface="Aptos"/>
                <a:cs typeface="Aptos"/>
              </a:rPr>
              <a:t>A governed exit path resolves the freeze-versus-seizure dilemma.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81428F-6E14-4040-97F8-D342C6A0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8120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1D9D1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41D9D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3F93F6-2520-40F7-B029-FE12E447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09850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50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913340-50EA-4B23-8134-BFF3382E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337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MODULAR IDENTITY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43260A-619B-4736-AB95-ED63E4B7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71850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5C3D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5C3D4"/>
                </a:solidFill>
                <a:latin typeface="Aptos"/>
                <a:ea typeface="Aptos"/>
                <a:cs typeface="Aptos"/>
              </a:rPr>
              <a:t>Cleanverse credentials plug into a focused interface.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4E9419-5EBF-4EDC-B3CA-4D003EF5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08204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276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880FEC-EEDF-4695-AEB5-6DBCE8B7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197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1D9D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1D9D1"/>
                </a:solidFill>
                <a:latin typeface="Aptos"/>
                <a:ea typeface="Aptos"/>
                <a:cs typeface="Aptos"/>
              </a:rPr>
              <a:t>Strategic position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4BCE18-DB42-42A0-9272-1709F015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1625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compliance layer becomes reusable infrastructure for verified on-chain finance.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97D9DB-E67C-4101-916B-B7435B78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BA5067-5285-4BB5-8D7D-4D0C69E4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3A4B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3A4BB"/>
                </a:solidFill>
                <a:latin typeface="Aptos"/>
                <a:ea typeface="Aptos"/>
                <a:cs typeface="Aptos"/>
              </a:rPr>
              <a:t>CONTINUUM × CLEANVERSE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E50719-16EC-4DEA-970D-E42C7C90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53200"/>
            <a:ext cx="3219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3A4B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3A4BB"/>
                </a:solidFill>
                <a:latin typeface="Aptos"/>
                <a:ea typeface="Aptos"/>
                <a:cs typeface="Aptos"/>
              </a:rPr>
              <a:t>CONFIDENTIAL • REGISTRATION DECK</a:t>
            </a:r>
          </a:p>
        </p:txBody>
      </p:sp>
    </p:spTree>
    <p:extLst>
      <p:ext uri="{BB962C8B-B14F-4D97-AF65-F5344CB8AC3E}">
        <p14:creationId xmlns:p14="http://schemas.microsoft.com/office/powerpoint/2010/main" val="770998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F2C3A9-AC84-4652-98B1-DD2BC91D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64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764FF"/>
                </a:solidFill>
                <a:latin typeface="Aptos"/>
                <a:ea typeface="Aptos"/>
                <a:cs typeface="Aptos"/>
              </a:rPr>
              <a:t>EXECUTION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8E8FD5-A7C3-476D-921E-C2486921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13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13E"/>
                </a:solidFill>
                <a:latin typeface="Aptos Display"/>
                <a:ea typeface="Aptos Display"/>
                <a:cs typeface="Aptos Display"/>
              </a:rPr>
              <a:t>The core system is live; the next milestone is native integration.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41309C-B30A-4B46-B258-6AC6699D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1A01DC-BDB8-49AA-88E2-16A7BF05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7244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46C1B8-7F73-4A43-98D5-584F6994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2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764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764FF"/>
                </a:solidFill>
                <a:latin typeface="Aptos"/>
                <a:ea typeface="Aptos"/>
                <a:cs typeface="Aptos"/>
              </a:rPr>
              <a:t>PROOF TODAY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099485-CE0F-4C0D-9FBB-78FF01C7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6B4134-4D55-4A9D-A396-10960E08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479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13E"/>
                </a:solidFill>
                <a:latin typeface="Aptos"/>
                <a:ea typeface="Aptos"/>
                <a:cs typeface="Aptos"/>
              </a:rPr>
              <a:t>4 contracts deployed on Monad testnet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0549E8-BF96-4EFC-83BC-51D9E9D6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76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01C351-D9E3-4E3D-B083-904EC194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004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13E"/>
                </a:solidFill>
                <a:latin typeface="Aptos"/>
                <a:ea typeface="Aptos"/>
                <a:cs typeface="Aptos"/>
              </a:rPr>
              <a:t>Verify, stake, transfer, revoke, and exit flows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161D32-20E5-43F2-BAF2-5421D0D1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29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125FAB-94B9-48B7-954D-75BEC3D1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528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13E"/>
                </a:solidFill>
                <a:latin typeface="Aptos"/>
                <a:ea typeface="Aptos"/>
                <a:cs typeface="Aptos"/>
              </a:rPr>
              <a:t>On-chain event trail for review decisions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4DB6AD-B942-466A-A0BC-D24BF64D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81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DF88FC-7488-4AD9-B6CD-6A652C88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053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13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13E"/>
                </a:solidFill>
                <a:latin typeface="Aptos"/>
                <a:ea typeface="Aptos"/>
                <a:cs typeface="Aptos"/>
              </a:rPr>
              <a:t>40 contract tests reported in the demo script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A8F106-E745-461B-9668-D3D41C6C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52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5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6B57"/>
                </a:solidFill>
                <a:latin typeface="Aptos"/>
                <a:ea typeface="Aptos"/>
                <a:cs typeface="Aptos"/>
              </a:rPr>
              <a:t>NEXT 90 DAYS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672D8C-B9FC-40CA-9FA9-9434B9A1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860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764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764FF"/>
                </a:solidFill>
                <a:latin typeface="Aptos"/>
                <a:ea typeface="Aptos"/>
                <a:cs typeface="Aptos"/>
              </a:rPr>
              <a:t>0–30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D53869-05C8-4F3B-8C96-7211C15D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479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Confirm Cleanverse sandbox interfaces and replace the mock registry.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48461B-0C6F-4F7F-B838-74077474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14700"/>
            <a:ext cx="502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E4DF10-F6EB-4870-97C9-9EFB9D2A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242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764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764FF"/>
                </a:solidFill>
                <a:latin typeface="Aptos"/>
                <a:ea typeface="Aptos"/>
                <a:cs typeface="Aptos"/>
              </a:rPr>
              <a:t>31–60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1E2239-26C6-4F28-A025-8ACE8CD5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4861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Pilot policy and reporting workflow with an institutional partner.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8475BB-FC34-4843-BFB7-532124CB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52900"/>
            <a:ext cx="502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130665-6D81-49CD-8240-8300749F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624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764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764FF"/>
                </a:solidFill>
                <a:latin typeface="Aptos"/>
                <a:ea typeface="Aptos"/>
                <a:cs typeface="Aptos"/>
              </a:rPr>
              <a:t>61–90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082887-4978-4C2F-9F8D-3355BF33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3243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Security review, production controls, and public pilot readiness.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CA5343-1393-4C36-99FB-C595A614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91100"/>
            <a:ext cx="5029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842A90-FA06-4DFD-8344-1559064E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8204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DF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D2C61E-6BFA-4E7E-88EB-ABD2CE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29275"/>
            <a:ext cx="1036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A08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A085"/>
                </a:solidFill>
                <a:latin typeface="Aptos"/>
                <a:ea typeface="Aptos"/>
                <a:cs typeface="Aptos"/>
              </a:rPr>
              <a:t>Claims discipline: testnet rewards are simulated; stMON is currently a policy-gated receipt, not claimed as a Cleanverse verified asset.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F42225-D25D-4F7A-91AC-4AFFA6CB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E288EA-3A40-40D6-A1C0-84A43826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CONTINUUM × CLEANVERSE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6B1DB0-B1D3-47A7-88F9-E876B7BE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53200"/>
            <a:ext cx="3219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CONFIDENTIAL • REGISTRATION DECK</a:t>
            </a:r>
          </a:p>
        </p:txBody>
      </p:sp>
    </p:spTree>
    <p:extLst>
      <p:ext uri="{BB962C8B-B14F-4D97-AF65-F5344CB8AC3E}">
        <p14:creationId xmlns:p14="http://schemas.microsoft.com/office/powerpoint/2010/main" val="8830670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1B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8AE82A-7135-4034-B656-F783F46D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1D9D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1D9D1"/>
                </a:solidFill>
                <a:latin typeface="Aptos"/>
                <a:ea typeface="Aptos"/>
                <a:cs typeface="Aptos"/>
              </a:rPr>
              <a:t>THE REGISTRATION 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6F38B4-E733-457D-94D9-71440883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876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Approve Continuum to build the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policy rail for verified DeFi.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18E17F-3448-413C-B9DD-F945EA2F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registration enables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489D58-151F-4C81-B435-30A611D5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59234F-7A54-4187-9C90-39DFE2A3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7665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4D1D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4D1DF"/>
                </a:solidFill>
                <a:latin typeface="Aptos"/>
                <a:ea typeface="Aptos"/>
                <a:cs typeface="Aptos"/>
              </a:rPr>
              <a:t>Sandbox access and confirmation of A-Pass integration interfaces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B0E647-7DC5-4C09-9DDE-84B316F2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A09319-DB9B-4682-8C6E-2886A1CC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2910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4D1D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4D1DF"/>
                </a:solidFill>
                <a:latin typeface="Aptos"/>
                <a:ea typeface="Aptos"/>
                <a:cs typeface="Aptos"/>
              </a:rPr>
              <a:t>Guidance on native verified-asset issuance and CCP interaction paths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6D1AE4-CA7F-4A6C-8155-E5B9862B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D9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BB8DDA-16CA-44EF-834B-CB9BA89A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8155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4D1D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4D1DF"/>
                </a:solidFill>
                <a:latin typeface="Aptos"/>
                <a:ea typeface="Aptos"/>
                <a:cs typeface="Aptos"/>
              </a:rPr>
              <a:t>Introductions to wallets, custodians, and institutional pilot partners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80BDBA-692C-4C6C-A1E0-986D28A8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0"/>
            <a:ext cx="29337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29be2b050f48c7"/>
          <a:stretch xmlns:a="http://schemas.openxmlformats.org/drawingml/2006/main"/>
        </p:blipFill>
        <p:spPr>
          <a:xfrm xmlns:a="http://schemas.openxmlformats.org/drawingml/2006/main">
            <a:off x="9382125" y="3448050"/>
            <a:ext cx="1314450" cy="13144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EAF3EC-028B-4824-9790-82946725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38700"/>
            <a:ext cx="2362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1B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61B3B"/>
                </a:solidFill>
                <a:latin typeface="Aptos"/>
                <a:ea typeface="Aptos"/>
                <a:cs typeface="Aptos"/>
              </a:rPr>
              <a:t>CONTINUUM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61256A-4652-47B4-A707-F24C38F5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505450"/>
            <a:ext cx="2933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1D9D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1D9D1"/>
                </a:solidFill>
                <a:latin typeface="Aptos"/>
                <a:ea typeface="Aptos"/>
                <a:cs typeface="Aptos"/>
              </a:rPr>
              <a:t>Compliance that travels with the token.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5F9B68-36C7-4C75-BC7D-8DB8E2D9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F01823-255B-4332-B35D-175B70C9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3A4B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3A4BB"/>
                </a:solidFill>
                <a:latin typeface="Aptos"/>
                <a:ea typeface="Aptos"/>
                <a:cs typeface="Aptos"/>
              </a:rPr>
              <a:t>CONTINUUM × CLEANVERSE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1462D2-1421-49B7-A778-A81998BE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553200"/>
            <a:ext cx="3219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3A4B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3A4BB"/>
                </a:solidFill>
                <a:latin typeface="Aptos"/>
                <a:ea typeface="Aptos"/>
                <a:cs typeface="Aptos"/>
              </a:rPr>
              <a:t>CONFIDENTIAL • REGISTRATION DECK</a:t>
            </a:r>
          </a:p>
        </p:txBody>
      </p:sp>
    </p:spTree>
    <p:extLst>
      <p:ext uri="{BB962C8B-B14F-4D97-AF65-F5344CB8AC3E}">
        <p14:creationId xmlns:p14="http://schemas.microsoft.com/office/powerpoint/2010/main" val="3825495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2026-08-03T17:54:48.9800000Z</dcterms:created>
  <dcterms:modified xsi:type="dcterms:W3CDTF">2026-08-03T17:54:48.9800000Z</dcterms:modified>
</coreProperties>
</file>